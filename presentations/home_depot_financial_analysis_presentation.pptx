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Introduce the study as an independent undergraduate BBA Finance portfolio analysis, not a professional valuation or audit.,2. The historical period is FY2021 to FY2025; FY2025 ended February 1,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the difference between reported facts and modeled future outcomes.,2. Purpose is to demonstrate basic financial analysis relevant to internship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Note revenue rose from $151.157bn to $164.683bn while operating profit fell from $23.040bn to $20.890bn.,2. FY2024 includes 53 weeks and SRS was acquired in 2024; do not present these as organic revenue growth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Operating margin declined from roughly 15.2% to 12.7%, a 2.6 percentage-point decline.,2. SG&amp;A rose as a share of revenue, but do not assert it alone caused the decline without further disclosure work.,3. Net margin also fell to roughly 8.6%.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FY2025 operating cash flow was $16.325bn and capex $3.679bn, leaving simplified FCF $12.646bn.,2. FCF is not FCFF: the DCF model separately derives unlevered cash flow from after-tax EBIT, D&amp;A, capex and changes in operating working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Explain FCFF as cash available to debt and equity investors before financing decisions.,2. Growth, margin, cost ratios, WACC and terminal growth are assumptions; no company guidance is claimed.,3. Using a simplified working-capital proxy, not a fully integrated pro forma three-statement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Break the value into $71.55bn PV forecast FCFF and $247.31bn discounted terminal value.,2. After subtracting $54.383bn net financial debt, equity is about $264.475bn, divided by 996m year-end shares equals $265.54.,3. Point out high terminal value share and sensitivity; this is not a real-time price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Show how lowering WACC and increasing terminal growth raise modeled value.,2. The highest cell is not a best case forecast; it is an alternative assumption combination.,3. Emphasize that sensitivity grids do not represent statistical prediction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Never claim the model proves Home Depot is cheap/expensive relative to the live share price.,2. Clarify reported consolidated growth differs from organic growth given acquisitions and calendar.,3. Explain WACC not calculated independently from current risk-free rates and market betas.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Close by highlighting three skills relevant to internships: financial statement reading, Excel modeling, and explaining model assumptions.,2. Be prepared to discuss margin compression, cash flow definition, and why the DCF has high terminal value 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E3652"/>
          </a:solidFill>
          <a:ln w="5080">
            <a:solidFill>
              <a:srgbClr val="1E36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82880"/>
            <a:ext cx="1371600" cy="6309360"/>
          </a:xfrm>
          <a:prstGeom prst="rect">
            <a:avLst/>
          </a:prstGeom>
          <a:solidFill>
            <a:srgbClr val="263F5B"/>
          </a:solidFill>
          <a:ln w="5080">
            <a:solidFill>
              <a:srgbClr val="263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2286000"/>
            <a:ext cx="1920240" cy="1828800"/>
          </a:xfrm>
          <a:prstGeom prst="chevron">
            <a:avLst/>
          </a:prstGeom>
          <a:solidFill>
            <a:srgbClr val="F46A21">
              <a:alpha val="95000"/>
            </a:srgbClr>
          </a:solidFill>
          <a:ln w="12700">
            <a:solidFill>
              <a:srgbClr val="F46A2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321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AE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UNDERGRADUATE FINANCE PORTFOLIO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 DEPOT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86868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Performance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Valuation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94944" y="4160520"/>
            <a:ext cx="5477256" cy="0"/>
          </a:xfrm>
          <a:prstGeom prst="line">
            <a:avLst/>
          </a:prstGeom>
          <a:noFill/>
          <a:ln w="17780">
            <a:solidFill>
              <a:srgbClr val="658097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04088" y="44439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6D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FY2021–FY2025 | Five-year public-company analysis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" y="599846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EE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Shahriar Molhem  |  BBA Finance, University of Georgia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6318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DB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SEC filings • educational valuation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RESEARCH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business. Three finance questions.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review of historical financial reporting, cash flow and scenario valuation.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" y="1984248"/>
            <a:ext cx="3575304" cy="2953512"/>
          </a:xfrm>
          <a:prstGeom prst="roundRect">
            <a:avLst>
              <a:gd name="adj" fmla="val 4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322576"/>
            <a:ext cx="512064" cy="51206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441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900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6968" y="3529584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margins, and operating earnings across five fiscal years.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71416" y="1984248"/>
            <a:ext cx="3575304" cy="2953512"/>
          </a:xfrm>
          <a:prstGeom prst="roundRect">
            <a:avLst>
              <a:gd name="adj" fmla="val 4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322576"/>
            <a:ext cx="512064" cy="51206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441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6592" y="29900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cash follow?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36592" y="3529584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cash flow, capital spending, and working-capital signals.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1984248"/>
            <a:ext cx="3575304" cy="2953512"/>
          </a:xfrm>
          <a:prstGeom prst="roundRect">
            <a:avLst>
              <a:gd name="adj" fmla="val 4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86216" y="2322576"/>
            <a:ext cx="512064" cy="51206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77656" y="2441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86216" y="29900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might it be worth?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86216" y="3529584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Five-year FCFF DCF using disclosed assumptions and sensitivity testing.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376672"/>
            <a:ext cx="9052560" cy="292608"/>
          </a:xfrm>
          <a:prstGeom prst="roundRect">
            <a:avLst>
              <a:gd name="adj" fmla="val 46875"/>
            </a:avLst>
          </a:prstGeom>
          <a:solidFill>
            <a:srgbClr val="FFF0E6"/>
          </a:solidFill>
          <a:ln w="5080">
            <a:solidFill>
              <a:srgbClr val="FFF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73352" y="5404104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FACTS → CALCULATIONS → ASSUMPTIONS → INTERPRETATION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SEC Forms 10-K FY2021–FY2025; Home Depot Investor Relations.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REPORTED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grew; operating earnings did not.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Fiscal years FY2021–FY2025 | USD billions | reported as filed.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18470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sales ($bn)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9944" y="18470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income ($bn)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" y="5010912"/>
            <a:ext cx="47000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492240" y="5010912"/>
            <a:ext cx="47274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96696" y="2932403"/>
            <a:ext cx="581558" cy="2069365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648939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151.2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5111496"/>
            <a:ext cx="80101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34870" y="2846894"/>
            <a:ext cx="581558" cy="2154874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7710" y="2563430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157.4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5142" y="5111496"/>
            <a:ext cx="80101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73045" y="2911704"/>
            <a:ext cx="581558" cy="2090064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5885" y="2628240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152.7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3317" y="5111496"/>
            <a:ext cx="80101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11219" y="2817994"/>
            <a:ext cx="581558" cy="2183774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4059" y="2534530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159.5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1491" y="5111496"/>
            <a:ext cx="80101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49394" y="2747230"/>
            <a:ext cx="581558" cy="2254538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2234" y="2463766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164.7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9666" y="5111496"/>
            <a:ext cx="80101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47688" y="2934005"/>
            <a:ext cx="579730" cy="2067763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650541"/>
            <a:ext cx="844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5111496"/>
            <a:ext cx="7991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4034" y="2844348"/>
            <a:ext cx="579730" cy="2157420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46874" y="2560884"/>
            <a:ext cx="844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74306" y="5111496"/>
            <a:ext cx="7991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20379" y="3055253"/>
            <a:ext cx="579730" cy="1946515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3219" y="2771789"/>
            <a:ext cx="844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0651" y="5111496"/>
            <a:ext cx="7991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56725" y="3069881"/>
            <a:ext cx="579730" cy="1931887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19565" y="2786417"/>
            <a:ext cx="844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46997" y="5111496"/>
            <a:ext cx="7991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393070" y="3126960"/>
            <a:ext cx="579730" cy="1874808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5910" y="2843496"/>
            <a:ext cx="844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83342" y="5111496"/>
            <a:ext cx="7991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7240" y="5724144"/>
            <a:ext cx="10588752" cy="521208"/>
          </a:xfrm>
          <a:prstGeom prst="roundRect">
            <a:avLst>
              <a:gd name="adj" fmla="val 17544"/>
            </a:avLst>
          </a:prstGeom>
          <a:solidFill>
            <a:srgbClr val="FFF0E6"/>
          </a:solidFill>
          <a:ln w="5080">
            <a:solidFill>
              <a:srgbClr val="FFF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" y="5815584"/>
            <a:ext cx="1015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FY21 → FY25: Sales +8.9%  |  Operating income −9.3%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Home Depot FY2023 and FY2025 Forms 10-K; Consolidated Statements of Earnings.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PROFITABILITY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margin compressed 2.6 percentage points.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operating margin; percentages derived as EBIT ÷ net sales.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2688" y="5266944"/>
            <a:ext cx="70591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57784" y="51389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32688" y="4496562"/>
            <a:ext cx="70591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57784" y="436854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" y="3726180"/>
            <a:ext cx="70591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557784" y="35981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" y="2955798"/>
            <a:ext cx="70591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57784" y="282778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" y="2185416"/>
            <a:ext cx="70591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557784" y="20574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2478161"/>
            <a:ext cx="1764792" cy="-11556"/>
          </a:xfrm>
          <a:prstGeom prst="line">
            <a:avLst/>
          </a:prstGeom>
          <a:noFill/>
          <a:ln w="38100">
            <a:solidFill>
              <a:srgbClr val="F46A21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697480" y="2466605"/>
            <a:ext cx="1764792" cy="408302"/>
          </a:xfrm>
          <a:prstGeom prst="line">
            <a:avLst/>
          </a:prstGeom>
          <a:noFill/>
          <a:ln w="38100">
            <a:solidFill>
              <a:srgbClr val="F46A21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462272" y="2874908"/>
            <a:ext cx="1764792" cy="277338"/>
          </a:xfrm>
          <a:prstGeom prst="line">
            <a:avLst/>
          </a:prstGeom>
          <a:noFill/>
          <a:ln w="38100">
            <a:solidFill>
              <a:srgbClr val="F46A21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227064" y="3152245"/>
            <a:ext cx="1764792" cy="312005"/>
          </a:xfrm>
          <a:prstGeom prst="line">
            <a:avLst/>
          </a:prstGeom>
          <a:noFill/>
          <a:ln w="38100">
            <a:solidFill>
              <a:srgbClr val="F46A2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67766" y="2413239"/>
            <a:ext cx="129845" cy="129845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48977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32558" y="2401683"/>
            <a:ext cx="129845" cy="129845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2137421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97350" y="2809985"/>
            <a:ext cx="129845" cy="129845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32504" y="2545724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2142" y="3087323"/>
            <a:ext cx="129845" cy="129845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7296" y="2823061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26934" y="3399328"/>
            <a:ext cx="129845" cy="129845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2088" y="3135066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2688" y="4161446"/>
            <a:ext cx="1764792" cy="0"/>
          </a:xfrm>
          <a:prstGeom prst="line">
            <a:avLst/>
          </a:prstGeom>
          <a:noFill/>
          <a:ln w="38100">
            <a:solidFill>
              <a:srgbClr val="14253A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697480" y="4161446"/>
            <a:ext cx="1764792" cy="365931"/>
          </a:xfrm>
          <a:prstGeom prst="line">
            <a:avLst/>
          </a:prstGeom>
          <a:noFill/>
          <a:ln w="38100">
            <a:solidFill>
              <a:srgbClr val="14253A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462272" y="4527377"/>
            <a:ext cx="1764792" cy="246522"/>
          </a:xfrm>
          <a:prstGeom prst="line">
            <a:avLst/>
          </a:prstGeom>
          <a:noFill/>
          <a:ln w="38100">
            <a:solidFill>
              <a:srgbClr val="14253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227064" y="4773900"/>
            <a:ext cx="1764792" cy="261930"/>
          </a:xfrm>
          <a:prstGeom prst="line">
            <a:avLst/>
          </a:prstGeom>
          <a:noFill/>
          <a:ln w="38100">
            <a:solidFill>
              <a:srgbClr val="14253A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67766" y="4096523"/>
            <a:ext cx="129845" cy="129845"/>
          </a:xfrm>
          <a:prstGeom prst="ellipse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3226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10.9%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32558" y="4096523"/>
            <a:ext cx="129845" cy="129845"/>
          </a:xfrm>
          <a:prstGeom prst="ellipse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67712" y="383226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97350" y="4462455"/>
            <a:ext cx="129845" cy="129845"/>
          </a:xfrm>
          <a:prstGeom prst="ellipse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32504" y="4198193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62142" y="4708977"/>
            <a:ext cx="129845" cy="129845"/>
          </a:xfrm>
          <a:prstGeom prst="ellipse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97296" y="4444716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26934" y="4970907"/>
            <a:ext cx="129845" cy="129845"/>
          </a:xfrm>
          <a:prstGeom prst="ellipse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62088" y="4706645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" y="54498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41448" y="54498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06240" y="54498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71032" y="54498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35824" y="54498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58200" y="2606040"/>
            <a:ext cx="365760" cy="0"/>
          </a:xfrm>
          <a:prstGeom prst="line">
            <a:avLst/>
          </a:prstGeom>
          <a:noFill/>
          <a:ln w="38100">
            <a:solidFill>
              <a:srgbClr val="F46A21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8951976" y="2450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margin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458200" y="2971800"/>
            <a:ext cx="365760" cy="0"/>
          </a:xfrm>
          <a:prstGeom prst="line">
            <a:avLst/>
          </a:prstGeom>
          <a:noFill/>
          <a:ln w="38100">
            <a:solidFill>
              <a:srgbClr val="14253A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8951976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margin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339328" y="3739896"/>
            <a:ext cx="2880360" cy="1444752"/>
          </a:xfrm>
          <a:prstGeom prst="roundRect">
            <a:avLst>
              <a:gd name="adj" fmla="val 759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39328" y="3739896"/>
            <a:ext cx="54864" cy="1444752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0496" y="3913632"/>
            <a:ext cx="2459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OP. MARGIN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40496" y="4270248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12.7%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Home Depot Forms 10-K; FY2024 contained 53 weeks; margins computed by author.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CASH GENERATION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flow can tell a different story from earnings.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from operations and simplified FCF (OCF − capital expenditures).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3201535"/>
            <a:ext cx="448056" cy="2147705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3534104"/>
            <a:ext cx="448056" cy="1815136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5486400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98648" y="3455044"/>
            <a:ext cx="448056" cy="1894196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3859286"/>
            <a:ext cx="448056" cy="1489954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5486400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0016" y="2605216"/>
            <a:ext cx="448056" cy="2744024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48656" y="3023326"/>
            <a:ext cx="448056" cy="2325914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5486400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01384" y="2781740"/>
            <a:ext cx="448056" cy="2567500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0024" y="3233418"/>
            <a:ext cx="448056" cy="2115822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5486400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02752" y="3233418"/>
            <a:ext cx="448056" cy="2115822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51392" y="3710239"/>
            <a:ext cx="448056" cy="1639001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5486400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" y="5349240"/>
            <a:ext cx="869594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966960" y="2340864"/>
            <a:ext cx="173736" cy="173736"/>
          </a:xfrm>
          <a:prstGeom prst="ellipse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04704" y="2295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cash 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2670048"/>
            <a:ext cx="173736" cy="173736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04704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FCF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84664" y="3310128"/>
            <a:ext cx="1700784" cy="1508760"/>
          </a:xfrm>
          <a:prstGeom prst="roundRect">
            <a:avLst>
              <a:gd name="adj" fmla="val 7879"/>
            </a:avLst>
          </a:prstGeom>
          <a:solidFill>
            <a:srgbClr val="FFF0E6"/>
          </a:solidFill>
          <a:ln w="5080">
            <a:solidFill>
              <a:srgbClr val="FFF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3529584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FY25 simple FCF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3941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$12.6bn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 Statements of Cash Flows; FCF = CFO less capex (not unlevered FCFF).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FORECAST METHOD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DCF: historical facts meet explicit assumptions.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years of FCFF, discounted to an FY2025 year-end reference date.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" y="2258568"/>
            <a:ext cx="2651760" cy="2286000"/>
          </a:xfrm>
          <a:prstGeom prst="roundRect">
            <a:avLst>
              <a:gd name="adj" fmla="val 5200"/>
            </a:avLst>
          </a:prstGeom>
          <a:solidFill>
            <a:srgbClr val="FFF0E6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52374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actuals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5528" y="3044952"/>
            <a:ext cx="21396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86384" y="3300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$164.7bn sales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3739896"/>
            <a:ext cx="2258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$20.9bn EBIT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3552" y="323697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493008" y="2258568"/>
            <a:ext cx="2651760" cy="2286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252374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FY2026–FY2030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03320" y="3044952"/>
            <a:ext cx="21396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694176" y="3300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2.8–3.2% growth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94176" y="3739896"/>
            <a:ext cx="2258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12.9–13.4% margin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1344" y="323697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400800" y="2258568"/>
            <a:ext cx="2651760" cy="2286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52374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flow formula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611112" y="3044952"/>
            <a:ext cx="21396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601968" y="3300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NOPAT + D&amp;A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01968" y="3739896"/>
            <a:ext cx="2258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Capex − ΔNWC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89136" y="323697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08592" y="2258568"/>
            <a:ext cx="2651760" cy="2286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252374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values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518904" y="3044952"/>
            <a:ext cx="21396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509760" y="3300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WACC: 8.0%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09760" y="3739896"/>
            <a:ext cx="2258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growth: 2.5%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" y="5084064"/>
            <a:ext cx="10515600" cy="704088"/>
          </a:xfrm>
          <a:prstGeom prst="roundRect">
            <a:avLst>
              <a:gd name="adj" fmla="val 16883"/>
            </a:avLst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294376"/>
            <a:ext cx="9976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assumptions are a student scenario—not company guidance or observed market WACC.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FY2025 10-K and independent scenario assumptions; see GitHub methodology.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ILLUSTRATIVE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Base-case value: $265.54 per share.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Discounted FCFF model as of FY2025 year-end; USD billions unless stated.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" y="1965960"/>
            <a:ext cx="6565392" cy="502920"/>
          </a:xfrm>
          <a:prstGeom prst="roundRect">
            <a:avLst>
              <a:gd name="adj" fmla="val 1454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848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 of FY26–FY30 FCFF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96128" y="20756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71.6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2560320"/>
            <a:ext cx="6565392" cy="502920"/>
          </a:xfrm>
          <a:prstGeom prst="roundRect">
            <a:avLst>
              <a:gd name="adj" fmla="val 1454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6791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 of terminal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96128" y="2670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247.3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" y="3154680"/>
            <a:ext cx="6565392" cy="502920"/>
          </a:xfrm>
          <a:prstGeom prst="roundRect">
            <a:avLst>
              <a:gd name="adj" fmla="val 14545"/>
            </a:avLst>
          </a:prstGeom>
          <a:solidFill>
            <a:srgbClr val="FFF0E6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2735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enterprise value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96128" y="32644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318.9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" y="3749040"/>
            <a:ext cx="6565392" cy="502920"/>
          </a:xfrm>
          <a:prstGeom prst="roundRect">
            <a:avLst>
              <a:gd name="adj" fmla="val 1454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8679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Less: net financial debt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96128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(54.4)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8096" y="4343400"/>
            <a:ext cx="6565392" cy="502920"/>
          </a:xfrm>
          <a:prstGeom prst="roundRect">
            <a:avLst>
              <a:gd name="adj" fmla="val 14545"/>
            </a:avLst>
          </a:prstGeom>
          <a:solidFill>
            <a:srgbClr val="E9EFF6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4622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equity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96128" y="44531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264.5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99832" y="2112264"/>
            <a:ext cx="3410712" cy="2496312"/>
          </a:xfrm>
          <a:prstGeom prst="roundRect">
            <a:avLst>
              <a:gd name="adj" fmla="val 5128"/>
            </a:avLst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241401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C3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VALUE /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2944368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$265.54</a:t>
            </a:r>
            <a:endParaRPr lang="en-US" sz="3700" dirty="0"/>
          </a:p>
        </p:txBody>
      </p:sp>
      <p:sp>
        <p:nvSpPr>
          <p:cNvPr id="24" name="Text 22"/>
          <p:cNvSpPr/>
          <p:nvPr/>
        </p:nvSpPr>
        <p:spPr>
          <a:xfrm>
            <a:off x="8028432" y="398678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3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996m FY2025 year-end shares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99832" y="5056632"/>
            <a:ext cx="3429000" cy="292608"/>
          </a:xfrm>
          <a:prstGeom prst="roundRect">
            <a:avLst>
              <a:gd name="adj" fmla="val 46875"/>
            </a:avLst>
          </a:prstGeom>
          <a:solidFill>
            <a:srgbClr val="FFF0E6"/>
          </a:solidFill>
          <a:ln w="5080">
            <a:solidFill>
              <a:srgbClr val="FFF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18704" y="50840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77.6% of EV comes from terminal value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FY2025 10-K; arithmetic and assumptions in models/valuation-model-specification.md.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SENSITIVITY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changes in WACC and g matter.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equity value / share ($) | rows: WACC; columns: perpetual FCFF growth.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WACC  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14016" y="1847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growth 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2194560"/>
            <a:ext cx="1426464" cy="429768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27685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30168" y="2194560"/>
            <a:ext cx="1426464" cy="429768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227685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11496" y="2194560"/>
            <a:ext cx="1426464" cy="429768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227685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92824" y="2194560"/>
            <a:ext cx="1426464" cy="429768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227685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4152" y="2194560"/>
            <a:ext cx="1426464" cy="429768"/>
          </a:xfrm>
          <a:prstGeom prst="rect">
            <a:avLst/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227685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48840" y="267919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279806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310.31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30168" y="267919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279806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344.13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11496" y="267919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79806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386.40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92824" y="267919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279806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440.75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74152" y="267919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279806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513.21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374136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48840" y="322783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57984" y="334670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262.25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30168" y="322783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334670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286.76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11496" y="322783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34670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316.42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92824" y="322783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34670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353.07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74152" y="322783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83296" y="334670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399.49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3922776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148840" y="377647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57984" y="389534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225.29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30168" y="377647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389534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243.74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111496" y="377647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46A21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89534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265.54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92824" y="377647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01968" y="389534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291.70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4152" y="377647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E3F4E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83296" y="389534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323.68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60120" y="4471416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8.75%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148840" y="43251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CEBE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57984" y="44439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195.98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630168" y="43251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44439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210.28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111496" y="43251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44439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226.87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592824" y="43251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1968" y="44439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246.34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074152" y="432511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83296" y="44439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269.53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60120" y="5020056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9.5%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148840" y="487375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CEBE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57984" y="499262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172.18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30168" y="487375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CEBE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39312" y="499262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183.53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111496" y="487375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CEBE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99262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196.50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592824" y="487375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01968" y="499262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211.46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074152" y="4873752"/>
            <a:ext cx="1426464" cy="512064"/>
          </a:xfrm>
          <a:prstGeom prst="roundRect">
            <a:avLst>
              <a:gd name="adj" fmla="val 10714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83296" y="499262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228.92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9601200" y="2276856"/>
            <a:ext cx="1947672" cy="2450592"/>
          </a:xfrm>
          <a:prstGeom prst="roundRect">
            <a:avLst>
              <a:gd name="adj" fmla="val 469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75520" y="25603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747504" y="309067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$265.54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9802368" y="3675888"/>
            <a:ext cx="15361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8.0% WACC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2.5% terminal g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" y="58247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shown is conditional on selected inputs—not a statistical forecast interval.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79" name="Text 77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independent sensitivity calculations; forecast FCFF held constant across the grid.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CRITICAL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cautiously before making decisions.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limitations that materially affect valuation and historical comparisons.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83664"/>
            <a:ext cx="5394960" cy="1481328"/>
          </a:xfrm>
          <a:prstGeom prst="roundRect">
            <a:avLst>
              <a:gd name="adj" fmla="val 8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176272"/>
            <a:ext cx="329184" cy="32918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" y="22539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2139696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FY2024 had 53 weeks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6192" y="2615184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Year-on-year sales comparisons need caution.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55664" y="1883664"/>
            <a:ext cx="5394960" cy="1481328"/>
          </a:xfrm>
          <a:prstGeom prst="roundRect">
            <a:avLst>
              <a:gd name="adj" fmla="val 8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02552" y="2176272"/>
            <a:ext cx="329184" cy="32918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8564" y="22539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4616" y="2139696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Acquisitions affect consolidated 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14616" y="2615184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SRS in FY2024 and GMS in FY2025 complicate organic comparisons.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648456"/>
            <a:ext cx="5394960" cy="1481328"/>
          </a:xfrm>
          <a:prstGeom prst="roundRect">
            <a:avLst>
              <a:gd name="adj" fmla="val 8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3941064"/>
            <a:ext cx="329184" cy="32918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0140" y="401878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904488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value dominates the DCF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36192" y="4379976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77.6% of enterprise value depends on post-2030 assumptions.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55664" y="3648456"/>
            <a:ext cx="5394960" cy="1481328"/>
          </a:xfrm>
          <a:prstGeom prst="roundRect">
            <a:avLst>
              <a:gd name="adj" fmla="val 8025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3941064"/>
            <a:ext cx="329184" cy="329184"/>
          </a:xfrm>
          <a:prstGeom prst="ellipse">
            <a:avLst/>
          </a:prstGeom>
          <a:solidFill>
            <a:srgbClr val="F46A21"/>
          </a:solidFill>
          <a:ln w="12700">
            <a:solidFill>
              <a:srgbClr val="F46A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564" y="401878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14616" y="3904488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enterprise-to-equity bridge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14616" y="4379976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leases, market-derived WACC and other adjustments are not fully modeled.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FY2025 10-K fiscal-calendar and acquisitions sections; valuation methods by author.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6A21"/>
          </a:solidFill>
          <a:ln w="5080">
            <a:solidFill>
              <a:srgbClr val="F46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6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project demonstrates.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finance-student case study connecting financial statements, modeling and communication.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23544" y="1865376"/>
            <a:ext cx="10369296" cy="832104"/>
          </a:xfrm>
          <a:prstGeom prst="roundRect">
            <a:avLst>
              <a:gd name="adj" fmla="val 10989"/>
            </a:avLst>
          </a:prstGeom>
          <a:solidFill>
            <a:srgbClr val="FFF0E6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2020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78224" y="2020824"/>
            <a:ext cx="6949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performance and cash flows were analyzed from primary SEC filings.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3544" y="2916936"/>
            <a:ext cx="10369296" cy="832104"/>
          </a:xfrm>
          <a:prstGeom prst="roundRect">
            <a:avLst>
              <a:gd name="adj" fmla="val 10989"/>
            </a:avLst>
          </a:prstGeom>
          <a:solidFill>
            <a:srgbClr val="F6F8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DISCIPLINE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78224" y="3072384"/>
            <a:ext cx="6949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inputs, forecast assumptions, and derived formulas are visibly separated.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3544" y="3968496"/>
            <a:ext cx="10369296" cy="832104"/>
          </a:xfrm>
          <a:prstGeom prst="roundRect">
            <a:avLst>
              <a:gd name="adj" fmla="val 10989"/>
            </a:avLst>
          </a:prstGeom>
          <a:solidFill>
            <a:srgbClr val="FFF0E6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4123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COMMUNICATION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78224" y="4123944"/>
            <a:ext cx="6949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and reporting caveats make the valuation useful as a discussion, not a prediction.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5166360"/>
            <a:ext cx="10424160" cy="667512"/>
          </a:xfrm>
          <a:prstGeom prst="roundRect">
            <a:avLst>
              <a:gd name="adj" fmla="val 13699"/>
            </a:avLst>
          </a:prstGeom>
          <a:solidFill>
            <a:srgbClr val="14253A"/>
          </a:solidFill>
          <a:ln w="5080">
            <a:solidFill>
              <a:srgbClr val="142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535838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undergraduate work · Not audited · No investment recommendation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612648" y="6547104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method, original SEC links, workbook and reproducibility notes accompany the GitHub portfolio.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881360" y="6547104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Independent Academic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Depot | Financial Performance &amp; Valuation</dc:title>
  <dc:subject>Independent undergraduate Home Depot financial statement and scenario-based DCF analysis</dc:subject>
  <dc:creator>Shahriar Molhem | University of Georgia</dc:creator>
  <cp:lastModifiedBy>Shahriar Molhem | University of Georgia</cp:lastModifiedBy>
  <cp:revision>1</cp:revision>
  <dcterms:created xsi:type="dcterms:W3CDTF">2026-10-19T01:13:34Z</dcterms:created>
  <dcterms:modified xsi:type="dcterms:W3CDTF">2026-10-19T01:13:34Z</dcterms:modified>
</cp:coreProperties>
</file>